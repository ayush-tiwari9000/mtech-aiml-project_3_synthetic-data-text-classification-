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57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5154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528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835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897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138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300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7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708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889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591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770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277948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58" r:id="rId1"/>
    <p:sldLayoutId id="2147484059" r:id="rId2"/>
    <p:sldLayoutId id="2147484060" r:id="rId3"/>
    <p:sldLayoutId id="2147484061" r:id="rId4"/>
    <p:sldLayoutId id="2147484062" r:id="rId5"/>
    <p:sldLayoutId id="2147484063" r:id="rId6"/>
    <p:sldLayoutId id="2147484064" r:id="rId7"/>
    <p:sldLayoutId id="2147484065" r:id="rId8"/>
    <p:sldLayoutId id="2147484066" r:id="rId9"/>
    <p:sldLayoutId id="2147484067" r:id="rId10"/>
    <p:sldLayoutId id="2147484068" r:id="rId11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527048" y="164592"/>
            <a:ext cx="9144000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 i="0" u="sng">
                <a:solidFill>
                  <a:srgbClr val="BE0C14"/>
                </a:solidFill>
                <a:latin typeface="Times New Roman"/>
              </a:rPr>
              <a:t>BIRLA INSTITUTE OF TECHNOLOGY, MESRA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594360"/>
            <a:ext cx="38404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 u="none" dirty="0">
                <a:latin typeface="Times New Roman"/>
              </a:rPr>
              <a:t>(Deemed University)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8531352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 u="none" dirty="0">
                <a:latin typeface="Times New Roman"/>
              </a:rPr>
              <a:t>Modern Artificial Intelligence  [AI26501]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01168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FFFFFF"/>
                </a:solidFill>
                <a:latin typeface="Arial"/>
              </a:rPr>
              <a:t>ASSIGNMENT 09  •  GROUP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83555"/>
            <a:ext cx="9098280" cy="86793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i="0" u="none" dirty="0">
                <a:latin typeface="Arial"/>
              </a:rPr>
              <a:t>Impact of Generative AI Synthetic Data on
Text Classification with Limited Training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75887"/>
            <a:ext cx="8531352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 i="0" u="none" dirty="0">
                <a:latin typeface="Times New Roman"/>
              </a:rPr>
              <a:t>SMS Spam Detection  |  TF-IDF + Logistic Regression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4636008"/>
            <a:ext cx="43891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u="none" dirty="0">
                <a:latin typeface="Times New Roman"/>
              </a:rPr>
              <a:t>Submitted to: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4946904"/>
            <a:ext cx="4480560" cy="78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 u="none" dirty="0">
                <a:latin typeface="Times New Roman"/>
              </a:rPr>
              <a:t>Dr. Shruti Garg
Associate Professor
CSE Department, BIT </a:t>
            </a:r>
            <a:r>
              <a:rPr sz="1700" b="0" i="0" u="none" dirty="0" err="1">
                <a:latin typeface="Times New Roman"/>
              </a:rPr>
              <a:t>Mesra</a:t>
            </a:r>
            <a:endParaRPr sz="1700" b="0" i="0" u="none" dirty="0">
              <a:latin typeface="Times New Roman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897880" y="4636008"/>
            <a:ext cx="5394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u="none" dirty="0">
                <a:latin typeface="Times New Roman"/>
              </a:rPr>
              <a:t>Submitted by: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4974336"/>
            <a:ext cx="566928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 u="none" dirty="0">
                <a:latin typeface="Times New Roman"/>
              </a:rPr>
              <a:t>Ayush Tiwari  (MT/AI/10007/26)
Himanshu Shekhar  (MT/AI/10027/26)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3480" y="279286"/>
            <a:ext cx="1101852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0" i="0" u="sng" dirty="0">
                <a:latin typeface="Arial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3480" y="1196949"/>
            <a:ext cx="9893808" cy="7817589"/>
          </a:xfrm>
          <a:prstGeom prst="rect">
            <a:avLst/>
          </a:prstGeom>
          <a:noFill/>
        </p:spPr>
        <p:txBody>
          <a:bodyPr wrap="square" lIns="9144" tIns="4572" rIns="9144" bIns="4572">
            <a:spAutoFit/>
          </a:bodyPr>
          <a:lstStyle/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IN" sz="2000" b="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Real-world problem &amp; motivation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IN" sz="2000" b="1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/>
              </a:rPr>
              <a:t>Research question and hypothesis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US" sz="2000" b="1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Dataset description: SMS Spam Collection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IN" sz="2000" b="1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/>
              </a:rPr>
              <a:t>Methodology and model pipeline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US" sz="2000" b="1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Experimental setup and evaluation metrics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IN" sz="2000" b="1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/>
              </a:rPr>
              <a:t>Results and performance trends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US" sz="2000" b="1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Baseline failure case and interpretation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IN" sz="2000" b="1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/>
              </a:rPr>
              <a:t>Conclusion, limitations and future improvements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US" sz="2000" b="1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IN" sz="2000" b="1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US" sz="2000" b="1" dirty="0">
              <a:solidFill>
                <a:srgbClr val="1C140C"/>
              </a:solidFill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IN" sz="2000" b="1" dirty="0">
              <a:solidFill>
                <a:srgbClr val="1C140C"/>
              </a:solidFill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US" sz="2000" b="1" dirty="0">
              <a:solidFill>
                <a:srgbClr val="1C140C"/>
              </a:solidFill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IN" sz="2000" b="1" dirty="0">
              <a:solidFill>
                <a:srgbClr val="1C140C"/>
              </a:solidFill>
              <a:latin typeface="Times New Roman"/>
            </a:endParaRPr>
          </a:p>
          <a:p>
            <a:pPr marL="342900" indent="-342900" algn="l">
              <a:lnSpc>
                <a:spcPct val="106000"/>
              </a:lnSpc>
              <a:spcAft>
                <a:spcPts val="0"/>
              </a:spcAft>
              <a:buFont typeface="Wingdings" panose="05000000000000000000" pitchFamily="2" charset="2"/>
              <a:buChar char="Ø"/>
            </a:pPr>
            <a:endParaRPr sz="2000" b="1" dirty="0">
              <a:solidFill>
                <a:srgbClr val="1C140C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04264" y="265176"/>
            <a:ext cx="110185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100" u="sng" dirty="0">
                <a:solidFill>
                  <a:srgbClr val="FFFFFF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4264" y="1234440"/>
            <a:ext cx="10195560" cy="2867003"/>
          </a:xfrm>
          <a:prstGeom prst="rect">
            <a:avLst/>
          </a:prstGeom>
          <a:noFill/>
        </p:spPr>
        <p:txBody>
          <a:bodyPr wrap="square" lIns="9144" tIns="18288" rIns="9144" bIns="18288">
            <a:spAutoFit/>
          </a:bodyPr>
          <a:lstStyle/>
          <a:p>
            <a:pPr marL="342900" indent="-342900" algn="l">
              <a:lnSpc>
                <a:spcPct val="106000"/>
              </a:lnSpc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sz="1900" b="1" dirty="0">
                <a:solidFill>
                  <a:srgbClr val="FFFFFF"/>
                </a:solidFill>
                <a:latin typeface="Times New Roman"/>
              </a:rPr>
              <a:t>Classification task. </a:t>
            </a:r>
            <a:r>
              <a:rPr sz="1900" dirty="0">
                <a:solidFill>
                  <a:srgbClr val="FFFFFF"/>
                </a:solidFill>
                <a:latin typeface="Times New Roman"/>
              </a:rPr>
              <a:t>SMS messages are classified as HAM (legitimate) or SPAM (unwanted).</a:t>
            </a:r>
          </a:p>
          <a:p>
            <a:pPr marL="342900" indent="-342900" algn="l">
              <a:lnSpc>
                <a:spcPct val="106000"/>
              </a:lnSpc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sz="1900" b="1" dirty="0">
                <a:solidFill>
                  <a:srgbClr val="FFFFFF"/>
                </a:solidFill>
                <a:latin typeface="Times New Roman"/>
              </a:rPr>
              <a:t>The data challenge. </a:t>
            </a:r>
            <a:r>
              <a:rPr sz="1900" dirty="0">
                <a:solidFill>
                  <a:srgbClr val="FFFFFF"/>
                </a:solidFill>
                <a:latin typeface="Times New Roman"/>
              </a:rPr>
              <a:t>A reliable supervised classifier needs labelled examples, but collecting enough real messages can take time. The dataset is also imbalanced.</a:t>
            </a:r>
          </a:p>
          <a:p>
            <a:pPr marL="342900" indent="-342900" algn="l">
              <a:lnSpc>
                <a:spcPct val="106000"/>
              </a:lnSpc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sz="1900" b="1" dirty="0">
                <a:solidFill>
                  <a:srgbClr val="FFFFFF"/>
                </a:solidFill>
                <a:latin typeface="Times New Roman"/>
              </a:rPr>
              <a:t>The proposed idea. </a:t>
            </a:r>
            <a:r>
              <a:rPr sz="1900" dirty="0">
                <a:solidFill>
                  <a:srgbClr val="FFFFFF"/>
                </a:solidFill>
                <a:latin typeface="Times New Roman"/>
              </a:rPr>
              <a:t>Generative AI can create additional SMS-style examples to supplement a limited real training set.</a:t>
            </a:r>
          </a:p>
          <a:p>
            <a:pPr marL="342900" indent="-342900" algn="l">
              <a:lnSpc>
                <a:spcPct val="106000"/>
              </a:lnSpc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sz="1900" b="1" dirty="0">
                <a:solidFill>
                  <a:srgbClr val="FFFFFF"/>
                </a:solidFill>
                <a:latin typeface="Times New Roman"/>
              </a:rPr>
              <a:t>Our comparison. </a:t>
            </a:r>
            <a:r>
              <a:rPr sz="1900" dirty="0">
                <a:solidFill>
                  <a:srgbClr val="FFFFFF"/>
                </a:solidFill>
                <a:latin typeface="Times New Roman"/>
              </a:rPr>
              <a:t>We train with real data only, then add synthetic examples at 25%, 50%, and 100% of the restricted real training-set size.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4264" y="4352544"/>
            <a:ext cx="10195560" cy="1143000"/>
          </a:xfrm>
          <a:prstGeom prst="rect">
            <a:avLst/>
          </a:prstGeom>
          <a:noFill/>
        </p:spPr>
        <p:txBody>
          <a:bodyPr wrap="square" lIns="9144" tIns="0" rIns="9144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u="sng" dirty="0">
                <a:solidFill>
                  <a:srgbClr val="FFFFFF"/>
                </a:solidFill>
                <a:latin typeface="Times New Roman"/>
              </a:rPr>
              <a:t>Aim of the study</a:t>
            </a:r>
          </a:p>
          <a:p>
            <a:pPr algn="l">
              <a:lnSpc>
                <a:spcPct val="106000"/>
              </a:lnSpc>
            </a:pPr>
            <a:r>
              <a:rPr sz="1900" b="1" dirty="0">
                <a:solidFill>
                  <a:srgbClr val="FFFFFF"/>
                </a:solidFill>
                <a:latin typeface="Times New Roman"/>
              </a:rPr>
              <a:t>Test whether synthetic messages improve performance when the model starts with only 891 real training messages, using the same 1,115 real test messages for every condition.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203960" y="265176"/>
            <a:ext cx="1101852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0" i="0" u="sng" dirty="0">
                <a:solidFill>
                  <a:srgbClr val="FFFFFF"/>
                </a:solidFill>
                <a:latin typeface="Arial"/>
              </a:rPr>
              <a:t>REAL-WORLD PROBLEM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3960" y="1261872"/>
            <a:ext cx="10168128" cy="5013360"/>
          </a:xfrm>
          <a:prstGeom prst="rect">
            <a:avLst/>
          </a:prstGeom>
          <a:noFill/>
        </p:spPr>
        <p:txBody>
          <a:bodyPr wrap="square" lIns="9144" tIns="4572" rIns="9144" bIns="4572">
            <a:spAutoFit/>
          </a:bodyPr>
          <a:lstStyle/>
          <a:p>
            <a:pPr marL="342900" indent="-342900" algn="l">
              <a:lnSpc>
                <a:spcPct val="106000"/>
              </a:lnSpc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sz="1900" b="1" dirty="0">
                <a:latin typeface="Times New Roman"/>
              </a:rPr>
              <a:t>Labelling takes effort. </a:t>
            </a:r>
            <a:r>
              <a:rPr sz="1900" dirty="0">
                <a:latin typeface="Times New Roman"/>
              </a:rPr>
              <a:t>Supervised classifiers need labelled examples, but collecting and labelling real messages can take time.</a:t>
            </a:r>
            <a:endParaRPr lang="en-US" sz="1900" dirty="0">
              <a:latin typeface="Times New Roman"/>
            </a:endParaRPr>
          </a:p>
          <a:p>
            <a:pPr marL="342900" indent="-342900" algn="l">
              <a:lnSpc>
                <a:spcPct val="106000"/>
              </a:lnSpc>
              <a:spcAft>
                <a:spcPts val="0"/>
              </a:spcAft>
              <a:buFont typeface="Wingdings" panose="05000000000000000000" pitchFamily="2" charset="2"/>
              <a:buChar char="Ø"/>
            </a:pPr>
            <a:endParaRPr lang="en-IN" sz="1900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US" sz="1900" b="1" dirty="0">
                <a:latin typeface="Times New Roman"/>
              </a:rPr>
              <a:t>Class imbalance matters. </a:t>
            </a:r>
            <a:r>
              <a:rPr lang="en-US" sz="1900" dirty="0">
                <a:latin typeface="Times New Roman"/>
              </a:rPr>
              <a:t>The original dataset contains 4,825 HAM messages but only 747 SPAM messages; accuracy alone can hide missed spam.</a:t>
            </a: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endParaRPr lang="en-US" sz="1900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Wingdings" panose="05000000000000000000" pitchFamily="2" charset="2"/>
              <a:buChar char="Ø"/>
            </a:pPr>
            <a:r>
              <a:rPr lang="en-US" sz="1900" b="1" dirty="0">
                <a:latin typeface="Times New Roman"/>
              </a:rPr>
              <a:t>Synthetic data is a possible supplement. </a:t>
            </a:r>
            <a:r>
              <a:rPr lang="en-US" sz="1900" dirty="0">
                <a:latin typeface="Times New Roman"/>
              </a:rPr>
              <a:t>Generative AI can create additional labelled SMS-style examples for training.</a:t>
            </a:r>
          </a:p>
          <a:p>
            <a:pPr>
              <a:lnSpc>
                <a:spcPct val="106000"/>
              </a:lnSpc>
            </a:pPr>
            <a:endParaRPr lang="en-US" sz="1900" dirty="0">
              <a:latin typeface="Times New Roman"/>
            </a:endParaRPr>
          </a:p>
          <a:p>
            <a:pPr>
              <a:lnSpc>
                <a:spcPct val="106000"/>
              </a:lnSpc>
            </a:pPr>
            <a:r>
              <a:rPr lang="en-IN" sz="2000" b="1" u="sng" dirty="0">
                <a:latin typeface="Times New Roman"/>
              </a:rPr>
              <a:t>The core question</a:t>
            </a:r>
          </a:p>
          <a:p>
            <a:pPr>
              <a:lnSpc>
                <a:spcPct val="106000"/>
              </a:lnSpc>
            </a:pPr>
            <a:r>
              <a:rPr lang="en-US" sz="2000" b="1" dirty="0">
                <a:latin typeface="Times New Roman"/>
              </a:rPr>
              <a:t>Can generated examples help when only a small real training set is
available?</a:t>
            </a:r>
          </a:p>
          <a:p>
            <a:pPr>
              <a:lnSpc>
                <a:spcPct val="106000"/>
              </a:lnSpc>
            </a:pPr>
            <a:endParaRPr lang="en-IN" sz="2000" b="1" dirty="0">
              <a:solidFill>
                <a:srgbClr val="1C140C"/>
              </a:solidFill>
              <a:latin typeface="Times New Roman"/>
            </a:endParaRPr>
          </a:p>
          <a:p>
            <a:pPr>
              <a:lnSpc>
                <a:spcPct val="106000"/>
              </a:lnSpc>
            </a:pPr>
            <a:endParaRPr lang="en-US" sz="1900" dirty="0">
              <a:solidFill>
                <a:srgbClr val="1C140C"/>
              </a:solidFill>
              <a:latin typeface="Times New Roman"/>
            </a:endParaRPr>
          </a:p>
          <a:p>
            <a:pPr>
              <a:lnSpc>
                <a:spcPct val="106000"/>
              </a:lnSpc>
            </a:pPr>
            <a:endParaRPr lang="en-US" sz="1900" dirty="0">
              <a:solidFill>
                <a:srgbClr val="1C140C"/>
              </a:solidFill>
              <a:latin typeface="Times New Roman"/>
            </a:endParaRPr>
          </a:p>
          <a:p>
            <a:pPr algn="l">
              <a:lnSpc>
                <a:spcPct val="106000"/>
              </a:lnSpc>
              <a:spcAft>
                <a:spcPts val="0"/>
              </a:spcAft>
            </a:pPr>
            <a:endParaRPr sz="1900" dirty="0">
              <a:solidFill>
                <a:srgbClr val="1C140C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78992" y="310896"/>
            <a:ext cx="1101852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0" i="0" u="sng" dirty="0">
                <a:solidFill>
                  <a:srgbClr val="FFFFFF"/>
                </a:solidFill>
                <a:latin typeface="Arial"/>
              </a:rPr>
              <a:t>RESEARCH QUESTIONS &amp; 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6048" y="1158383"/>
            <a:ext cx="10332720" cy="6449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u="sng" dirty="0">
                <a:latin typeface="Times New Roman"/>
              </a:rPr>
              <a:t>Research question</a:t>
            </a:r>
            <a:endParaRPr lang="en-US" sz="2000" b="1" i="0" u="sng" dirty="0">
              <a:latin typeface="Times New Roman"/>
            </a:endParaRPr>
          </a:p>
          <a:p>
            <a:r>
              <a:rPr lang="en-US" sz="2000" b="1" dirty="0">
                <a:latin typeface="Times New Roman"/>
              </a:rPr>
              <a:t>Can Generative AI-generated synthetic labelled text compensate for limited real training data in SMS spam classification?</a:t>
            </a:r>
          </a:p>
          <a:p>
            <a:endParaRPr lang="en-US" sz="2000" b="1" dirty="0">
              <a:latin typeface="Times New Roman"/>
            </a:endParaRPr>
          </a:p>
          <a:p>
            <a:r>
              <a:rPr lang="en-IN" sz="2000" b="1" u="sng" dirty="0">
                <a:latin typeface="Times New Roman"/>
              </a:rPr>
              <a:t>Hypothesis</a:t>
            </a:r>
          </a:p>
          <a:p>
            <a:r>
              <a:rPr lang="en-US" sz="2000" dirty="0">
                <a:latin typeface="Times New Roman"/>
              </a:rPr>
              <a:t>Adding synthetic training examples will improve predictive performance under limited real-data conditions.</a:t>
            </a:r>
          </a:p>
          <a:p>
            <a:endParaRPr lang="en-US" sz="2000" dirty="0">
              <a:latin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Independent variable: </a:t>
            </a:r>
            <a:r>
              <a:rPr lang="en-US" sz="2000" dirty="0">
                <a:latin typeface="Times New Roman"/>
              </a:rPr>
              <a:t>synthetic-data amount — 0%, 25%, 50%, or 100% of the restricted real training-set size.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Measured outcomes: </a:t>
            </a:r>
            <a:r>
              <a:rPr lang="en-US" sz="2000" dirty="0">
                <a:latin typeface="Times New Roman"/>
              </a:rPr>
              <a:t>Accuracy, Macro-F1, Matthews Correlation Coefficient (MCC), and training time.</a:t>
            </a:r>
          </a:p>
          <a:p>
            <a:endParaRPr lang="en-US" sz="2000" dirty="0">
              <a:latin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Held constant: </a:t>
            </a:r>
            <a:r>
              <a:rPr lang="en-US" sz="2000" dirty="0">
                <a:latin typeface="Times New Roman"/>
              </a:rPr>
              <a:t>same real test set, TF-IDF settings, and Logistic Regression pipeline.</a:t>
            </a:r>
          </a:p>
          <a:p>
            <a:endParaRPr lang="en-US" sz="2000" dirty="0">
              <a:latin typeface="Times New Roman"/>
            </a:endParaRPr>
          </a:p>
          <a:p>
            <a:endParaRPr lang="en-US" sz="2000" dirty="0">
              <a:solidFill>
                <a:srgbClr val="1C140C"/>
              </a:solidFill>
              <a:latin typeface="Times New Roman"/>
            </a:endParaRPr>
          </a:p>
          <a:p>
            <a:endParaRPr lang="en-US" sz="2000" dirty="0">
              <a:solidFill>
                <a:srgbClr val="1C140C"/>
              </a:solidFill>
              <a:latin typeface="Times New Roman"/>
            </a:endParaRPr>
          </a:p>
          <a:p>
            <a:endParaRPr lang="en-IN" sz="2000" b="1" dirty="0">
              <a:solidFill>
                <a:srgbClr val="1C140C"/>
              </a:solidFill>
              <a:latin typeface="Times New Roman"/>
            </a:endParaRPr>
          </a:p>
          <a:p>
            <a:endParaRPr lang="en-US" sz="2000" b="1" dirty="0">
              <a:latin typeface="Times New Roman"/>
            </a:endParaRPr>
          </a:p>
          <a:p>
            <a:pPr algn="l">
              <a:spcAft>
                <a:spcPts val="0"/>
              </a:spcAft>
            </a:pPr>
            <a:endParaRPr sz="2000" b="1" i="0" u="none" dirty="0">
              <a:solidFill>
                <a:srgbClr val="1C140C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6424" y="256032"/>
            <a:ext cx="1101852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3100" b="0" i="0" u="sng" dirty="0">
                <a:solidFill>
                  <a:srgbClr val="FFFFFF"/>
                </a:solidFill>
                <a:latin typeface="Arial"/>
              </a:rPr>
              <a:t> </a:t>
            </a:r>
            <a:r>
              <a:rPr sz="3100" b="0" i="0" u="sng" dirty="0">
                <a:solidFill>
                  <a:srgbClr val="FFFFFF"/>
                </a:solidFill>
                <a:latin typeface="Arial"/>
              </a:rPr>
              <a:t>DATASET ARCHITECTURE (SMS SPAM COLLECTION)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934254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700" b="0" i="1" u="none" dirty="0">
                <a:latin typeface="Times New Roman"/>
              </a:rPr>
              <a:t> </a:t>
            </a:r>
            <a:r>
              <a:rPr sz="1700" b="0" i="1" u="none" dirty="0">
                <a:latin typeface="Times New Roman"/>
              </a:rPr>
              <a:t>Source: UCI Machine Learning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1664208"/>
            <a:ext cx="2039112" cy="9079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 i="0" u="none" dirty="0">
                <a:latin typeface="Arial"/>
              </a:rPr>
              <a:t>5,572</a:t>
            </a:r>
            <a:endParaRPr lang="en-US" sz="3100" b="1" i="0" u="none" dirty="0">
              <a:latin typeface="Arial"/>
            </a:endParaRPr>
          </a:p>
          <a:p>
            <a:pPr algn="ctr">
              <a:spcAft>
                <a:spcPts val="0"/>
              </a:spcAft>
            </a:pPr>
            <a:r>
              <a:rPr lang="en-IN" sz="1500" dirty="0">
                <a:latin typeface="Times New Roman"/>
              </a:rPr>
              <a:t> Total</a:t>
            </a:r>
            <a:r>
              <a:rPr lang="en-IN" sz="1200" dirty="0">
                <a:latin typeface="Times New Roman"/>
              </a:rPr>
              <a:t> </a:t>
            </a:r>
            <a:r>
              <a:rPr lang="en-IN" sz="1600" dirty="0">
                <a:latin typeface="Times New Roman"/>
              </a:rPr>
              <a:t>messages</a:t>
            </a:r>
          </a:p>
          <a:p>
            <a:pPr algn="ctr">
              <a:spcAft>
                <a:spcPts val="0"/>
              </a:spcAft>
            </a:pPr>
            <a:endParaRPr lang="en-US" sz="1200" b="1" i="0" u="none" dirty="0">
              <a:solidFill>
                <a:srgbClr val="1C140C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145536" y="1645920"/>
            <a:ext cx="2240280" cy="93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 i="0" u="none" dirty="0">
                <a:latin typeface="Arial"/>
              </a:rPr>
              <a:t>4,457</a:t>
            </a:r>
            <a:endParaRPr lang="en-US" sz="3100" b="1" i="0" u="none" dirty="0">
              <a:latin typeface="Arial"/>
            </a:endParaRPr>
          </a:p>
          <a:p>
            <a:pPr algn="ctr"/>
            <a:r>
              <a:rPr lang="en-IN" sz="1500" dirty="0">
                <a:latin typeface="Times New Roman"/>
              </a:rPr>
              <a:t>training split (80%)</a:t>
            </a:r>
          </a:p>
          <a:p>
            <a:pPr algn="ctr">
              <a:spcAft>
                <a:spcPts val="0"/>
              </a:spcAft>
            </a:pPr>
            <a:endParaRPr sz="1500" b="1" i="0" u="none" dirty="0">
              <a:solidFill>
                <a:srgbClr val="1C140C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03520" y="1645920"/>
            <a:ext cx="2240280" cy="11695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 i="0" u="none" dirty="0">
                <a:latin typeface="Arial"/>
              </a:rPr>
              <a:t>1,115</a:t>
            </a:r>
            <a:endParaRPr lang="en-US" sz="3100" b="1" dirty="0">
              <a:latin typeface="Arial"/>
            </a:endParaRPr>
          </a:p>
          <a:p>
            <a:pPr algn="ctr">
              <a:spcAft>
                <a:spcPts val="0"/>
              </a:spcAft>
            </a:pPr>
            <a:r>
              <a:rPr lang="en-IN" sz="1500" dirty="0">
                <a:latin typeface="Times New Roman"/>
              </a:rPr>
              <a:t>Real test messages</a:t>
            </a:r>
          </a:p>
          <a:p>
            <a:pPr algn="ctr"/>
            <a:r>
              <a:rPr lang="en-IN" sz="1500" dirty="0">
                <a:latin typeface="Times New Roman"/>
              </a:rPr>
              <a:t>(20%)</a:t>
            </a:r>
          </a:p>
          <a:p>
            <a:pPr algn="ctr">
              <a:spcAft>
                <a:spcPts val="0"/>
              </a:spcAft>
            </a:pPr>
            <a:endParaRPr sz="1500" b="1" i="0" u="none" dirty="0">
              <a:solidFill>
                <a:srgbClr val="1C140C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24928" y="1645920"/>
            <a:ext cx="2331720" cy="93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100" b="1" i="0" u="none" dirty="0">
                <a:latin typeface="Arial"/>
              </a:rPr>
              <a:t>891</a:t>
            </a:r>
            <a:endParaRPr lang="en-US" sz="3100" b="1" i="0" u="none" dirty="0">
              <a:latin typeface="Arial"/>
            </a:endParaRPr>
          </a:p>
          <a:p>
            <a:pPr algn="ctr"/>
            <a:r>
              <a:rPr lang="en-IN" sz="1500" dirty="0">
                <a:latin typeface="Times New Roman"/>
              </a:rPr>
              <a:t>restricted real training set</a:t>
            </a:r>
          </a:p>
          <a:p>
            <a:pPr algn="ctr">
              <a:spcAft>
                <a:spcPts val="0"/>
              </a:spcAft>
            </a:pPr>
            <a:endParaRPr sz="1500" b="1" i="0" u="none" dirty="0">
              <a:solidFill>
                <a:srgbClr val="1C140C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2688335"/>
            <a:ext cx="9765792" cy="4001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1" i="0" u="none" dirty="0">
                <a:latin typeface="Times New Roman"/>
              </a:rPr>
              <a:t> </a:t>
            </a:r>
            <a:r>
              <a:rPr sz="2000" b="1" i="0" u="none" dirty="0">
                <a:latin typeface="Times New Roman"/>
              </a:rPr>
              <a:t>Original class distribution</a:t>
            </a:r>
            <a:endParaRPr lang="en-US" sz="2000" b="1" i="0" u="none" dirty="0">
              <a:latin typeface="Times New Roman"/>
            </a:endParaRPr>
          </a:p>
          <a:p>
            <a:pPr algn="l">
              <a:spcAft>
                <a:spcPts val="0"/>
              </a:spcAft>
            </a:pPr>
            <a:endParaRPr lang="en-IN" sz="2000" b="1" dirty="0">
              <a:latin typeface="Times New Roman"/>
            </a:endParaRPr>
          </a:p>
          <a:p>
            <a:r>
              <a:rPr lang="en-IN" sz="2000" b="1" dirty="0">
                <a:latin typeface="Times New Roman"/>
              </a:rPr>
              <a:t> HAM - 4,825</a:t>
            </a:r>
          </a:p>
          <a:p>
            <a:endParaRPr lang="en-IN" sz="2000" b="1" dirty="0">
              <a:latin typeface="Times New Roman"/>
            </a:endParaRPr>
          </a:p>
          <a:p>
            <a:r>
              <a:rPr lang="en-IN" sz="2000" b="1" dirty="0">
                <a:latin typeface="Times New Roman"/>
              </a:rPr>
              <a:t> SPAM – 747</a:t>
            </a:r>
          </a:p>
          <a:p>
            <a:endParaRPr lang="en-IN" sz="2000" b="1" dirty="0">
              <a:latin typeface="Times New Roman"/>
            </a:endParaRPr>
          </a:p>
          <a:p>
            <a:r>
              <a:rPr lang="en-US" sz="2000" b="1" dirty="0">
                <a:latin typeface="Times New Roman"/>
              </a:rPr>
              <a:t> After the 80/20 split, only 20% of the training portion was retained: 891 real messages  (771 HAM, 120 SPAM).</a:t>
            </a:r>
          </a:p>
          <a:p>
            <a:endParaRPr lang="en-IN" sz="2000" b="1" dirty="0">
              <a:solidFill>
                <a:srgbClr val="1C140C"/>
              </a:solidFill>
              <a:latin typeface="Times New Roman"/>
            </a:endParaRPr>
          </a:p>
          <a:p>
            <a:endParaRPr lang="en-IN" sz="2000" b="1" dirty="0">
              <a:solidFill>
                <a:srgbClr val="1C140C"/>
              </a:solidFill>
              <a:latin typeface="Times New Roman"/>
            </a:endParaRPr>
          </a:p>
          <a:p>
            <a:endParaRPr lang="en-IN" sz="2000" b="1" dirty="0">
              <a:solidFill>
                <a:srgbClr val="1C140C"/>
              </a:solidFill>
              <a:latin typeface="Times New Roman"/>
            </a:endParaRPr>
          </a:p>
          <a:p>
            <a:endParaRPr lang="en-IN" sz="2000" b="1" dirty="0">
              <a:solidFill>
                <a:srgbClr val="1C140C"/>
              </a:solidFill>
              <a:latin typeface="Times New Roman"/>
            </a:endParaRPr>
          </a:p>
          <a:p>
            <a:pPr algn="l">
              <a:spcAft>
                <a:spcPts val="0"/>
              </a:spcAft>
            </a:pPr>
            <a:r>
              <a:rPr lang="en-US" sz="2000" b="1" i="0" u="none" dirty="0">
                <a:solidFill>
                  <a:srgbClr val="1C140C"/>
                </a:solidFill>
                <a:latin typeface="Times New Roman"/>
              </a:rPr>
              <a:t> </a:t>
            </a:r>
            <a:endParaRPr sz="2000" b="1" i="0" u="none" dirty="0">
              <a:solidFill>
                <a:srgbClr val="1C140C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78992" y="274320"/>
            <a:ext cx="4425696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3100" b="0" i="0" u="none" dirty="0">
                <a:solidFill>
                  <a:srgbClr val="FFFFFF"/>
                </a:solidFill>
                <a:latin typeface="Arial"/>
              </a:rPr>
              <a:t> </a:t>
            </a:r>
            <a:r>
              <a:rPr sz="3100" b="0" i="0" u="sng" dirty="0">
                <a:solidFill>
                  <a:srgbClr val="FFFFFF"/>
                </a:solidFill>
                <a:latin typeface="Arial"/>
              </a:rPr>
              <a:t>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133856"/>
            <a:ext cx="10213848" cy="3219664"/>
          </a:xfrm>
          <a:prstGeom prst="rect">
            <a:avLst/>
          </a:prstGeom>
          <a:noFill/>
        </p:spPr>
        <p:txBody>
          <a:bodyPr wrap="square" lIns="9144" tIns="4572" rIns="9144" bIns="4572">
            <a:spAutoFit/>
          </a:bodyPr>
          <a:lstStyle/>
          <a:p>
            <a:pPr marL="342900" indent="-342900" algn="l">
              <a:lnSpc>
                <a:spcPct val="106000"/>
              </a:lnSpc>
              <a:spcAft>
                <a:spcPts val="0"/>
              </a:spcAft>
              <a:buFont typeface="+mj-lt"/>
              <a:buAutoNum type="arabicPeriod"/>
            </a:pPr>
            <a:r>
              <a:rPr sz="1800" b="1" dirty="0">
                <a:latin typeface="Times New Roman"/>
              </a:rPr>
              <a:t>Original dataset. </a:t>
            </a:r>
            <a:r>
              <a:rPr sz="1800" dirty="0">
                <a:latin typeface="Times New Roman"/>
              </a:rPr>
              <a:t>Start with 5,572 real SMS messages.</a:t>
            </a:r>
            <a:endParaRPr lang="en-US" sz="1800" dirty="0">
              <a:latin typeface="Times New Roman"/>
            </a:endParaRPr>
          </a:p>
          <a:p>
            <a:pPr marL="342900" indent="-342900" algn="l">
              <a:lnSpc>
                <a:spcPct val="106000"/>
              </a:lnSpc>
              <a:spcAft>
                <a:spcPts val="0"/>
              </a:spcAft>
              <a:buFont typeface="+mj-lt"/>
              <a:buAutoNum type="arabicPeriod"/>
            </a:pPr>
            <a:endParaRPr lang="en-IN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+mj-lt"/>
              <a:buAutoNum type="arabicPeriod"/>
            </a:pPr>
            <a:r>
              <a:rPr lang="en-US" b="1" dirty="0">
                <a:latin typeface="Times New Roman"/>
              </a:rPr>
              <a:t>Train/test split. </a:t>
            </a:r>
            <a:r>
              <a:rPr lang="en-US" dirty="0">
                <a:latin typeface="Times New Roman"/>
              </a:rPr>
              <a:t>Use 4,457 training messages and 1,115 test messages.</a:t>
            </a:r>
          </a:p>
          <a:p>
            <a:pPr marL="342900" indent="-342900">
              <a:lnSpc>
                <a:spcPct val="106000"/>
              </a:lnSpc>
              <a:buFont typeface="+mj-lt"/>
              <a:buAutoNum type="arabicPeriod"/>
            </a:pPr>
            <a:endParaRPr lang="en-US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+mj-lt"/>
              <a:buAutoNum type="arabicPeriod"/>
            </a:pPr>
            <a:r>
              <a:rPr lang="en-US" b="1" dirty="0">
                <a:latin typeface="Times New Roman"/>
              </a:rPr>
              <a:t>Restrict real data. </a:t>
            </a:r>
            <a:r>
              <a:rPr lang="en-US" dirty="0">
                <a:latin typeface="Times New Roman"/>
              </a:rPr>
              <a:t>Keep 20% of the training portion, giving 891 real messages.</a:t>
            </a:r>
          </a:p>
          <a:p>
            <a:pPr marL="342900" indent="-342900">
              <a:lnSpc>
                <a:spcPct val="106000"/>
              </a:lnSpc>
              <a:buFont typeface="+mj-lt"/>
              <a:buAutoNum type="arabicPeriod"/>
            </a:pPr>
            <a:endParaRPr lang="en-US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+mj-lt"/>
              <a:buAutoNum type="arabicPeriod"/>
            </a:pPr>
            <a:r>
              <a:rPr lang="en-US" b="1" dirty="0">
                <a:latin typeface="Times New Roman"/>
              </a:rPr>
              <a:t>Add synthetic examples. </a:t>
            </a:r>
            <a:r>
              <a:rPr lang="en-US" dirty="0">
                <a:latin typeface="Times New Roman"/>
              </a:rPr>
              <a:t>Use 0, 223, 446, or 891 synthetic messages.</a:t>
            </a:r>
          </a:p>
          <a:p>
            <a:pPr marL="342900" indent="-342900" algn="l">
              <a:lnSpc>
                <a:spcPct val="106000"/>
              </a:lnSpc>
              <a:spcAft>
                <a:spcPts val="0"/>
              </a:spcAft>
              <a:buFont typeface="+mj-lt"/>
              <a:buAutoNum type="arabicPeriod"/>
            </a:pPr>
            <a:endParaRPr lang="en-IN" sz="1800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+mj-lt"/>
              <a:buAutoNum type="arabicPeriod"/>
            </a:pPr>
            <a:r>
              <a:rPr lang="en-US" b="1" dirty="0">
                <a:latin typeface="Times New Roman"/>
              </a:rPr>
              <a:t>Train one pipeline. </a:t>
            </a:r>
            <a:r>
              <a:rPr lang="en-US" dirty="0">
                <a:latin typeface="Times New Roman"/>
              </a:rPr>
              <a:t>TF-IDF vectorization followed by Logistic Regression.</a:t>
            </a:r>
          </a:p>
          <a:p>
            <a:pPr marL="342900" indent="-342900" algn="l">
              <a:lnSpc>
                <a:spcPct val="106000"/>
              </a:lnSpc>
              <a:spcAft>
                <a:spcPts val="0"/>
              </a:spcAft>
              <a:buFont typeface="+mj-lt"/>
              <a:buAutoNum type="arabicPeriod"/>
            </a:pPr>
            <a:endParaRPr lang="en-IN" sz="1800" dirty="0">
              <a:latin typeface="Times New Roman"/>
            </a:endParaRPr>
          </a:p>
          <a:p>
            <a:pPr marL="342900" indent="-342900">
              <a:lnSpc>
                <a:spcPct val="106000"/>
              </a:lnSpc>
              <a:buFont typeface="+mj-lt"/>
              <a:buAutoNum type="arabicPeriod"/>
            </a:pPr>
            <a:r>
              <a:rPr lang="en-US" b="1" dirty="0">
                <a:latin typeface="Times New Roman"/>
              </a:rPr>
              <a:t>Evaluate. </a:t>
            </a:r>
            <a:r>
              <a:rPr lang="en-US" dirty="0">
                <a:latin typeface="Times New Roman"/>
              </a:rPr>
              <a:t>Measure performance on the same 1,115 real test messages.</a:t>
            </a:r>
            <a:endParaRPr lang="en-IN" sz="1800" dirty="0"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3480" y="265175"/>
            <a:ext cx="1101852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0" i="0" u="sng" dirty="0">
                <a:solidFill>
                  <a:srgbClr val="FFFFFF"/>
                </a:solidFill>
                <a:latin typeface="Arial"/>
              </a:rPr>
              <a:t>EXPERIMENTAL SETUP &amp; EVALUATION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3480" y="1062269"/>
            <a:ext cx="466344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latin typeface="Times New Roman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3480" y="1651274"/>
            <a:ext cx="4663440" cy="2675669"/>
          </a:xfrm>
          <a:prstGeom prst="rect">
            <a:avLst/>
          </a:prstGeom>
          <a:noFill/>
        </p:spPr>
        <p:txBody>
          <a:bodyPr wrap="square" lIns="18288" tIns="18288" rIns="45720" bIns="18288" anchor="t">
            <a:spAutoFit/>
          </a:bodyPr>
          <a:lstStyle/>
          <a:p>
            <a:pPr marL="285750" indent="-285750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Font typeface="Wingdings" panose="05000000000000000000" pitchFamily="2" charset="2"/>
              <a:buChar char="Ø"/>
            </a:pPr>
            <a:r>
              <a:rPr sz="1620" b="1" dirty="0">
                <a:latin typeface="Times New Roman"/>
              </a:rPr>
              <a:t>Real training set: </a:t>
            </a:r>
            <a:r>
              <a:rPr sz="1620" dirty="0">
                <a:latin typeface="Times New Roman"/>
              </a:rPr>
              <a:t>891 messages (771 HAM, 120 SPAM).</a:t>
            </a:r>
          </a:p>
          <a:p>
            <a:pPr marL="285750" indent="-285750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Font typeface="Wingdings" panose="05000000000000000000" pitchFamily="2" charset="2"/>
              <a:buChar char="Ø"/>
            </a:pPr>
            <a:r>
              <a:rPr sz="1620" b="1" dirty="0">
                <a:latin typeface="Times New Roman"/>
              </a:rPr>
              <a:t>Synthetic additions: </a:t>
            </a:r>
            <a:r>
              <a:rPr sz="1620" dirty="0">
                <a:latin typeface="Times New Roman"/>
              </a:rPr>
              <a:t>0, 223, 446, or 891 messages.</a:t>
            </a:r>
          </a:p>
          <a:p>
            <a:pPr marL="285750" indent="-285750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Font typeface="Wingdings" panose="05000000000000000000" pitchFamily="2" charset="2"/>
              <a:buChar char="Ø"/>
            </a:pPr>
            <a:r>
              <a:rPr sz="1620" b="1" dirty="0">
                <a:latin typeface="Times New Roman"/>
              </a:rPr>
              <a:t>Total training size: </a:t>
            </a:r>
            <a:r>
              <a:rPr sz="1620" dirty="0">
                <a:latin typeface="Times New Roman"/>
              </a:rPr>
              <a:t>891 to 1,782 messages.</a:t>
            </a:r>
          </a:p>
          <a:p>
            <a:pPr marL="285750" indent="-285750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Font typeface="Wingdings" panose="05000000000000000000" pitchFamily="2" charset="2"/>
              <a:buChar char="Ø"/>
            </a:pPr>
            <a:r>
              <a:rPr sz="1620" b="1" dirty="0">
                <a:latin typeface="Times New Roman"/>
              </a:rPr>
              <a:t>Model pipeline: </a:t>
            </a:r>
            <a:r>
              <a:rPr sz="1620" dirty="0">
                <a:latin typeface="Times New Roman"/>
              </a:rPr>
              <a:t>TF-IDF followed by Logistic Regression.</a:t>
            </a:r>
          </a:p>
          <a:p>
            <a:pPr marL="285750" indent="-285750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  <a:buFont typeface="Wingdings" panose="05000000000000000000" pitchFamily="2" charset="2"/>
              <a:buChar char="Ø"/>
            </a:pPr>
            <a:r>
              <a:rPr sz="1620" b="1" dirty="0">
                <a:latin typeface="Times New Roman"/>
              </a:rPr>
              <a:t>Test set: </a:t>
            </a:r>
            <a:r>
              <a:rPr sz="1620" dirty="0">
                <a:latin typeface="Times New Roman"/>
              </a:rPr>
              <a:t>the same 1,115 real messages in every condition.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2" y="1062269"/>
            <a:ext cx="452628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latin typeface="Times New Roman"/>
              </a:rPr>
              <a:t>EVALUATION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2" y="1651274"/>
            <a:ext cx="4498848" cy="2409442"/>
          </a:xfrm>
          <a:prstGeom prst="rect">
            <a:avLst/>
          </a:prstGeom>
          <a:noFill/>
        </p:spPr>
        <p:txBody>
          <a:bodyPr wrap="square" lIns="18288" tIns="18288" rIns="45720" bIns="18288" anchor="t">
            <a:spAutoFit/>
          </a:bodyPr>
          <a:lstStyle/>
          <a:p>
            <a:pPr marL="285750" indent="-28575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Font typeface="Wingdings" panose="05000000000000000000" pitchFamily="2" charset="2"/>
              <a:buChar char="Ø"/>
            </a:pPr>
            <a:r>
              <a:rPr sz="1620" b="1" dirty="0">
                <a:latin typeface="Times New Roman"/>
              </a:rPr>
              <a:t>Accuracy: </a:t>
            </a:r>
            <a:r>
              <a:rPr sz="1620" dirty="0">
                <a:latin typeface="Times New Roman"/>
              </a:rPr>
              <a:t>overall proportion of correct predictions.</a:t>
            </a:r>
          </a:p>
          <a:p>
            <a:pPr marL="285750" indent="-28575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Font typeface="Wingdings" panose="05000000000000000000" pitchFamily="2" charset="2"/>
              <a:buChar char="Ø"/>
            </a:pPr>
            <a:r>
              <a:rPr sz="1620" b="1" dirty="0">
                <a:latin typeface="Times New Roman"/>
              </a:rPr>
              <a:t>Macro-F1: </a:t>
            </a:r>
            <a:r>
              <a:rPr sz="1620" dirty="0">
                <a:latin typeface="Times New Roman"/>
              </a:rPr>
              <a:t>treats HAM and SPAM F1-score</a:t>
            </a:r>
            <a:r>
              <a:rPr lang="en-US" sz="1620" dirty="0">
                <a:latin typeface="Times New Roman"/>
              </a:rPr>
              <a:t> </a:t>
            </a:r>
            <a:r>
              <a:rPr sz="1620" dirty="0">
                <a:latin typeface="Times New Roman"/>
              </a:rPr>
              <a:t>equally.</a:t>
            </a:r>
          </a:p>
          <a:p>
            <a:pPr marL="285750" indent="-28575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Font typeface="Wingdings" panose="05000000000000000000" pitchFamily="2" charset="2"/>
              <a:buChar char="Ø"/>
            </a:pPr>
            <a:r>
              <a:rPr sz="1620" b="1" dirty="0">
                <a:latin typeface="Times New Roman"/>
              </a:rPr>
              <a:t>MCC: </a:t>
            </a:r>
            <a:r>
              <a:rPr sz="1620" dirty="0" err="1">
                <a:latin typeface="Times New Roman"/>
              </a:rPr>
              <a:t>summarises</a:t>
            </a:r>
            <a:r>
              <a:rPr sz="1620" dirty="0">
                <a:latin typeface="Times New Roman"/>
              </a:rPr>
              <a:t> agreement between predicted</a:t>
            </a:r>
            <a:r>
              <a:rPr lang="en-US" sz="1620" dirty="0">
                <a:latin typeface="Times New Roman"/>
              </a:rPr>
              <a:t> </a:t>
            </a:r>
            <a:r>
              <a:rPr sz="1620" dirty="0">
                <a:latin typeface="Times New Roman"/>
              </a:rPr>
              <a:t>and true labels.</a:t>
            </a:r>
          </a:p>
          <a:p>
            <a:pPr marL="285750" indent="-28575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Font typeface="Wingdings" panose="05000000000000000000" pitchFamily="2" charset="2"/>
              <a:buChar char="Ø"/>
            </a:pPr>
            <a:r>
              <a:rPr sz="1620" b="1" dirty="0">
                <a:latin typeface="Times New Roman"/>
              </a:rPr>
              <a:t>Training time: </a:t>
            </a:r>
            <a:r>
              <a:rPr sz="1620" dirty="0">
                <a:latin typeface="Times New Roman"/>
              </a:rPr>
              <a:t>time required to fit the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566928" y="4570680"/>
            <a:ext cx="10012680" cy="2646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latin typeface="Times New Roman"/>
              </a:rPr>
              <a:t>Controlled comparison: only the amount of synthetic training data changes.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3480" y="283464"/>
            <a:ext cx="1101852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0" i="0" u="sng" dirty="0">
                <a:solidFill>
                  <a:srgbClr val="FFFFFF"/>
                </a:solidFill>
                <a:latin typeface="Arial"/>
              </a:rPr>
              <a:t>RESULTS &amp; ANALYTICAL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855805"/>
            <a:ext cx="3017520" cy="1717393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 lang="en-US" sz="1800" b="1" dirty="0">
              <a:solidFill>
                <a:srgbClr val="B05E0D"/>
              </a:solidFill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u="sng" dirty="0">
                <a:latin typeface="Times New Roman"/>
              </a:rPr>
              <a:t>ACCURACY</a:t>
            </a:r>
            <a:endParaRPr lang="en-US" sz="1800" b="1" u="sng" dirty="0">
              <a:latin typeface="Times New Roman"/>
            </a:endParaRPr>
          </a:p>
          <a:p>
            <a:pPr algn="ctr"/>
            <a:r>
              <a:rPr lang="en-IN" b="1" dirty="0">
                <a:latin typeface="Times New Roman"/>
              </a:rPr>
              <a:t>0.8744  →  0.8933</a:t>
            </a:r>
          </a:p>
          <a:p>
            <a:pPr algn="ctr"/>
            <a:r>
              <a:rPr lang="en-IN" b="1" dirty="0">
                <a:latin typeface="Times New Roman"/>
              </a:rPr>
              <a:t>+1.89 percentage points</a:t>
            </a:r>
          </a:p>
          <a:p>
            <a:pPr algn="ctr"/>
            <a:endParaRPr lang="en-IN" b="1" dirty="0">
              <a:solidFill>
                <a:srgbClr val="231D17"/>
              </a:solidFill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endParaRPr sz="1800" b="1" dirty="0">
              <a:solidFill>
                <a:srgbClr val="B05E0D"/>
              </a:solidFill>
              <a:latin typeface="Times New Roman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52544" y="855805"/>
            <a:ext cx="3017520" cy="1717393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 lang="en-US" sz="1800" b="1" dirty="0">
              <a:solidFill>
                <a:srgbClr val="B05E0D"/>
              </a:solidFill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u="sng" dirty="0">
                <a:latin typeface="Times New Roman"/>
              </a:rPr>
              <a:t>MACRO-F1</a:t>
            </a:r>
            <a:endParaRPr lang="en-US" sz="1800" b="1" u="sng" dirty="0">
              <a:latin typeface="Times New Roman"/>
            </a:endParaRPr>
          </a:p>
          <a:p>
            <a:pPr algn="ctr"/>
            <a:r>
              <a:rPr lang="en-IN" b="1" dirty="0">
                <a:latin typeface="Times New Roman"/>
              </a:rPr>
              <a:t>0.5232  →  0.6386</a:t>
            </a:r>
          </a:p>
          <a:p>
            <a:pPr algn="ctr"/>
            <a:r>
              <a:rPr lang="en-IN" b="1" dirty="0">
                <a:latin typeface="Times New Roman"/>
              </a:rPr>
              <a:t>+11.54 percentage points</a:t>
            </a:r>
          </a:p>
          <a:p>
            <a:pPr algn="ctr"/>
            <a:endParaRPr lang="en-IN" b="1" dirty="0">
              <a:solidFill>
                <a:srgbClr val="231D17"/>
              </a:solidFill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endParaRPr sz="1800" b="1" dirty="0">
              <a:solidFill>
                <a:srgbClr val="B05E0D"/>
              </a:solidFill>
              <a:latin typeface="Times New Roman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18704" y="855805"/>
            <a:ext cx="3017520" cy="1717393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endParaRPr lang="en-US" sz="1800" b="1" dirty="0">
              <a:solidFill>
                <a:srgbClr val="B05E0D"/>
              </a:solidFill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u="sng" dirty="0">
                <a:latin typeface="Times New Roman"/>
              </a:rPr>
              <a:t>MCC</a:t>
            </a:r>
            <a:endParaRPr lang="en-US" sz="1800" b="1" u="sng" dirty="0">
              <a:latin typeface="Times New Roman"/>
            </a:endParaRPr>
          </a:p>
          <a:p>
            <a:pPr algn="ctr"/>
            <a:r>
              <a:rPr lang="en-IN" b="1" dirty="0">
                <a:latin typeface="Times New Roman"/>
              </a:rPr>
              <a:t>0.2297  →  0.4234</a:t>
            </a:r>
          </a:p>
          <a:p>
            <a:pPr algn="ctr"/>
            <a:r>
              <a:rPr lang="en-IN" b="1" dirty="0">
                <a:latin typeface="Times New Roman"/>
              </a:rPr>
              <a:t>+0.1937 absolute</a:t>
            </a:r>
          </a:p>
          <a:p>
            <a:pPr algn="ctr"/>
            <a:endParaRPr lang="en-IN" b="1" dirty="0">
              <a:solidFill>
                <a:srgbClr val="231D17"/>
              </a:solidFill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endParaRPr sz="1800" b="1" dirty="0">
              <a:solidFill>
                <a:srgbClr val="B05E0D"/>
              </a:solidFill>
              <a:latin typeface="Times New Roman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73480" y="2485605"/>
            <a:ext cx="9875520" cy="232371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 u="sng" dirty="0">
                <a:latin typeface="Times New Roman"/>
              </a:rPr>
              <a:t>WHAT THE RESULTS SHOW</a:t>
            </a:r>
            <a:endParaRPr lang="en-US" sz="2050" b="1" u="sng" dirty="0">
              <a:latin typeface="Times New Roman"/>
            </a:endParaRPr>
          </a:p>
          <a:p>
            <a:pPr marL="342900" indent="-342900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Consistent improvement: </a:t>
            </a:r>
            <a:r>
              <a:rPr lang="en-US" sz="2000" dirty="0">
                <a:latin typeface="Times New Roman"/>
              </a:rPr>
              <a:t>Accuracy, Macro-F1, and MCC increased at every synthetic-data level.</a:t>
            </a:r>
          </a:p>
          <a:p>
            <a:pPr marL="342900" indent="-342900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Best observed condition: </a:t>
            </a:r>
            <a:r>
              <a:rPr lang="en-US" sz="2000" dirty="0">
                <a:latin typeface="Times New Roman"/>
              </a:rPr>
              <a:t>real data + 100% synthetic data (891 additional messages).</a:t>
            </a:r>
          </a:p>
          <a:p>
            <a:pPr marL="342900" indent="-342900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Training time: </a:t>
            </a:r>
            <a:r>
              <a:rPr lang="en-US" sz="2000" dirty="0">
                <a:latin typeface="Times New Roman"/>
              </a:rPr>
              <a:t>ranged from 0.0333 s to 0.0622 s across the four runs.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2050" b="1" dirty="0">
              <a:solidFill>
                <a:srgbClr val="B05E0D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06424" y="292608"/>
            <a:ext cx="1101852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0" i="0" u="sng" dirty="0">
                <a:solidFill>
                  <a:srgbClr val="FFFFFF"/>
                </a:solidFill>
                <a:latin typeface="Arial"/>
              </a:rPr>
              <a:t>INTERPRETATION, CONCLUSION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" y="941784"/>
            <a:ext cx="10058400" cy="63401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u="sng" dirty="0">
                <a:latin typeface="Times New Roman"/>
              </a:rPr>
              <a:t>Baseline failure case</a:t>
            </a:r>
            <a:endParaRPr lang="en-US" sz="2000" b="1" u="sng" dirty="0">
              <a:latin typeface="Times New Roman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IN" sz="2000" b="1" dirty="0">
                <a:latin typeface="Times New Roman"/>
              </a:rPr>
              <a:t>HAM recall / F1: </a:t>
            </a:r>
            <a:r>
              <a:rPr lang="en-IN" sz="2000" dirty="0">
                <a:latin typeface="Times New Roman"/>
              </a:rPr>
              <a:t>1.00 / 0.93.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/>
              </a:rPr>
              <a:t>SPAM recall / F1: </a:t>
            </a:r>
            <a:r>
              <a:rPr lang="en-US" sz="2000" dirty="0">
                <a:latin typeface="Times New Roman"/>
              </a:rPr>
              <a:t>0.06 / 0.11.</a:t>
            </a:r>
          </a:p>
          <a:p>
            <a:endParaRPr lang="en-US" sz="2000" dirty="0">
              <a:solidFill>
                <a:srgbClr val="1C140C"/>
              </a:solidFill>
              <a:latin typeface="Times New Roman"/>
            </a:endParaRPr>
          </a:p>
          <a:p>
            <a:r>
              <a:rPr lang="en-US" dirty="0">
                <a:latin typeface="Times New Roman"/>
              </a:rPr>
              <a:t>The real-only baseline strongly </a:t>
            </a:r>
            <a:r>
              <a:rPr lang="en-US" dirty="0" err="1">
                <a:latin typeface="Times New Roman"/>
              </a:rPr>
              <a:t>favoured</a:t>
            </a:r>
            <a:r>
              <a:rPr lang="en-US" dirty="0">
                <a:latin typeface="Times New Roman"/>
              </a:rPr>
              <a:t> the majority HAM class and missed many SPAM messages. Macro-F1 and MCC improved after synthetic data was added.</a:t>
            </a:r>
          </a:p>
          <a:p>
            <a:endParaRPr lang="en-US" sz="2000" dirty="0">
              <a:solidFill>
                <a:srgbClr val="1C140C"/>
              </a:solidFill>
              <a:latin typeface="Times New Roman"/>
            </a:endParaRPr>
          </a:p>
          <a:p>
            <a:r>
              <a:rPr lang="en-IN" sz="2000" b="1" u="sng" dirty="0">
                <a:latin typeface="Times New Roman"/>
              </a:rPr>
              <a:t>Conclusion</a:t>
            </a:r>
          </a:p>
          <a:p>
            <a:r>
              <a:rPr lang="en-US" dirty="0">
                <a:latin typeface="Times New Roman"/>
              </a:rPr>
              <a:t>Within this SMS spam experiment, the +100% synthetic condition achieved the best observed results: Accuracy 0.8933, Macro-F1 0.6386, and MCC 0.4234.</a:t>
            </a:r>
          </a:p>
          <a:p>
            <a:endParaRPr lang="en-IN" sz="2000" b="1" dirty="0">
              <a:latin typeface="Times New Roman"/>
            </a:endParaRPr>
          </a:p>
          <a:p>
            <a:r>
              <a:rPr lang="en-IN" sz="2000" b="1" dirty="0">
                <a:latin typeface="Times New Roman"/>
              </a:rPr>
              <a:t>Limitations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/>
              </a:rPr>
              <a:t>One dataset and one classifier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/>
              </a:rPr>
              <a:t>Synthetic-data quality may vary
Results may not generalize to every task</a:t>
            </a:r>
            <a:endParaRPr lang="en-IN" sz="2000" b="1" dirty="0">
              <a:latin typeface="Times New Roman"/>
            </a:endParaRPr>
          </a:p>
          <a:p>
            <a:endParaRPr lang="en-US" sz="2000" b="1" dirty="0">
              <a:solidFill>
                <a:srgbClr val="1C140C"/>
              </a:solidFill>
              <a:latin typeface="Times New Roman"/>
            </a:endParaRPr>
          </a:p>
          <a:p>
            <a:endParaRPr lang="en-IN" sz="2000" b="1" dirty="0">
              <a:solidFill>
                <a:srgbClr val="1C140C"/>
              </a:solidFill>
              <a:latin typeface="Times New Roman"/>
            </a:endParaRPr>
          </a:p>
          <a:p>
            <a:endParaRPr lang="en-US" sz="2000" dirty="0">
              <a:solidFill>
                <a:srgbClr val="1C140C"/>
              </a:solidFill>
              <a:latin typeface="Times New Roman"/>
            </a:endParaRPr>
          </a:p>
          <a:p>
            <a:endParaRPr lang="en-US" sz="2000" dirty="0">
              <a:solidFill>
                <a:srgbClr val="1C140C"/>
              </a:solidFill>
              <a:latin typeface="Times New Roman"/>
            </a:endParaRPr>
          </a:p>
          <a:p>
            <a:endParaRPr lang="en-IN" sz="2000" dirty="0">
              <a:solidFill>
                <a:srgbClr val="1C140C"/>
              </a:solidFill>
              <a:latin typeface="Times New Roman"/>
            </a:endParaRPr>
          </a:p>
          <a:p>
            <a:pPr algn="l">
              <a:spcAft>
                <a:spcPts val="0"/>
              </a:spcAft>
            </a:pPr>
            <a:endParaRPr sz="2000" b="1" i="0" u="none" dirty="0">
              <a:solidFill>
                <a:srgbClr val="1C140C"/>
              </a:solidFill>
              <a:latin typeface="Times New Roman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96000" y="4282273"/>
            <a:ext cx="498348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u="none" dirty="0">
                <a:latin typeface="Times New Roman"/>
              </a:rPr>
              <a:t>Future improvements</a:t>
            </a:r>
            <a:endParaRPr lang="en-US" sz="2000" b="1" i="0" u="none" dirty="0">
              <a:latin typeface="Times New Roman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/>
              </a:rPr>
              <a:t>Try more datasets and classifiers
Compare generation strategies
Measure synthetic-data quality and diversity</a:t>
            </a:r>
            <a:endParaRPr sz="2000" b="1" i="0" u="none" dirty="0"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14400" y="2788920"/>
            <a:ext cx="1036015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0" i="0" u="none" dirty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TM16401375[[fn=Madison]]</Template>
  <TotalTime>67</TotalTime>
  <Words>891</Words>
  <Application>Microsoft Office PowerPoint</Application>
  <PresentationFormat>Widescreen</PresentationFormat>
  <Paragraphs>152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MS Shell Dlg 2</vt:lpstr>
      <vt:lpstr>Times New Roman</vt:lpstr>
      <vt:lpstr>Wingdings</vt:lpstr>
      <vt:lpstr>Wingdings 3</vt:lpstr>
      <vt:lpstr>Madison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Impact of Generative AI Synthetic Data on Text Classification with Limited Training Data</dc:title>
  <dc:subject>Modern AI (AI26501), Assignment 09, Group 03</dc:subject>
  <dc:creator>Ayush Tiwari; Himanshu Shekhar</dc:creator>
  <cp:keywords>synthetic data, SMS spam classification, TF-IDF, Logistic Regression</cp:keywords>
  <dc:description>generated using python-pptx</dc:description>
  <cp:lastModifiedBy>Ayush Tiwari</cp:lastModifiedBy>
  <cp:revision>36</cp:revision>
  <dcterms:created xsi:type="dcterms:W3CDTF">2013-01-27T09:14:16Z</dcterms:created>
  <dcterms:modified xsi:type="dcterms:W3CDTF">2026-10-12T21:48:12Z</dcterms:modified>
  <cp:category/>
</cp:coreProperties>
</file>