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379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480560"/>
            <a:ext cx="2103120" cy="2103120"/>
          </a:xfrm>
          <a:prstGeom prst="ellipse">
            <a:avLst/>
          </a:prstGeom>
          <a:solidFill>
            <a:srgbClr val="4C7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49640" y="4846320"/>
            <a:ext cx="1005840" cy="1005840"/>
          </a:xfrm>
          <a:prstGeom prst="ellipse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1143000" cy="7315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005840"/>
            <a:ext cx="1600200" cy="292608"/>
          </a:xfrm>
          <a:prstGeom prst="roundRect">
            <a:avLst/>
          </a:prstGeom>
          <a:solidFill>
            <a:srgbClr val="2A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019556"/>
            <a:ext cx="1527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EEFE6"/>
                </a:solidFill>
                <a:latin typeface="Aptos"/>
              </a:rPr>
              <a:t>ASSIGNMENT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786384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Impact of Generative AI
Synthetic Data on Text
Classification with Limited
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24528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8C9E2"/>
                </a:solidFill>
                <a:latin typeface="Aptos"/>
              </a:rPr>
              <a:t>SMS Spam Detection  |  TF-IDF + Logistic Regression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892040"/>
            <a:ext cx="6629400" cy="10972"/>
          </a:xfrm>
          <a:prstGeom prst="rect">
            <a:avLst/>
          </a:prstGeom>
          <a:solidFill>
            <a:srgbClr val="3B5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5138928"/>
            <a:ext cx="7680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8E2F0"/>
                </a:solidFill>
                <a:latin typeface="Aptos"/>
              </a:rPr>
              <a:t>Modern AI (AI26501)  •  M.Tech CSE AIML  •  Semester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634933"/>
            <a:ext cx="80467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AEBED4"/>
                </a:solidFill>
                <a:latin typeface="Aptos"/>
              </a:rPr>
              <a:t>Team members: [</a:t>
            </a:r>
            <a:r>
              <a:rPr lang="en-US" sz="1100" dirty="0">
                <a:solidFill>
                  <a:srgbClr val="AEBED4"/>
                </a:solidFill>
                <a:latin typeface="Aptos"/>
              </a:rPr>
              <a:t>Ayush Tiwari; MT/AI/10007/26</a:t>
            </a:r>
            <a:r>
              <a:rPr sz="1100" b="0" i="0" dirty="0">
                <a:solidFill>
                  <a:srgbClr val="AEBED4"/>
                </a:solidFill>
                <a:latin typeface="Aptos"/>
              </a:rPr>
              <a:t>]  |  [</a:t>
            </a:r>
            <a:r>
              <a:rPr lang="en-US" sz="1100">
                <a:solidFill>
                  <a:srgbClr val="AEBED4"/>
                </a:solidFill>
                <a:latin typeface="Aptos"/>
              </a:rPr>
              <a:t>Himanshu Shekhar; MT/AI/10027/26</a:t>
            </a:r>
            <a:r>
              <a:rPr sz="1100" b="0" i="0">
                <a:solidFill>
                  <a:srgbClr val="AEBED4"/>
                </a:solidFill>
                <a:latin typeface="Aptos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99846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0A4BF"/>
                </a:solidFill>
                <a:latin typeface="Aptos"/>
              </a:rPr>
              <a:t>October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344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7C4D8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B7C4D8"/>
                </a:solidFill>
                <a:latin typeface="Aptos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9A89"/>
                </a:solidFill>
                <a:latin typeface="Aptos"/>
              </a:rPr>
              <a:t>01  /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Why study synthetic training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Real text classification often depends on enough labelled examples—especially for the less common class.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658368" cy="5029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8580" cy="1874519"/>
          </a:xfrm>
          <a:prstGeom prst="rect">
            <a:avLst/>
          </a:prstGeom>
          <a:solidFill>
            <a:srgbClr val="4C7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Labelling takes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50008"/>
            <a:ext cx="3136392" cy="121615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Real messages must be collected and labelled before supervised training.</a:t>
            </a:r>
          </a:p>
          <a:p>
            <a:pPr>
              <a:spcAft>
                <a:spcPts val="5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In this experiment, we intentionally restrict the available real training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68580" cy="1874519"/>
          </a:xfrm>
          <a:prstGeom prst="rect">
            <a:avLst/>
          </a:prstGeom>
          <a:solidFill>
            <a:srgbClr val="F0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Class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50008"/>
            <a:ext cx="3136392" cy="121615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The original dataset contains far more HAM than SPAM messages.</a:t>
            </a:r>
          </a:p>
          <a:p>
            <a:pPr>
              <a:spcAft>
                <a:spcPts val="5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A model can achieve high accuracy while missing many spam 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68580" cy="1874519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1363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Potential role of synthetic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50008"/>
            <a:ext cx="3136392" cy="121615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Generative AI can produce additional labelled SMS-style examples.</a:t>
            </a:r>
          </a:p>
          <a:p>
            <a:pPr>
              <a:spcAft>
                <a:spcPts val="5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The experiment tests whether those examples improve model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0927080" cy="1481328"/>
          </a:xfrm>
          <a:prstGeom prst="roundRect">
            <a:avLst/>
          </a:prstGeom>
          <a:solidFill>
            <a:srgbClr val="13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DE9DC"/>
                </a:solidFill>
                <a:latin typeface="Aptos"/>
              </a:rPr>
              <a:t>The core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4515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Can generated examples help when only a small real training set is available?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8064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Task: binary SMS classification — ham (legitimate) vs. spam.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9A89"/>
                </a:solidFill>
                <a:latin typeface="Aptos"/>
              </a:rPr>
              <a:t>02  / 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Question, hypothesis &amp;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The experiment changes the quantity of synthetic training examples while keeping the evaluation data fixed.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658368" cy="5029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75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9A89"/>
                </a:solidFill>
                <a:latin typeface="Aptos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589788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3233F"/>
                </a:solidFill>
                <a:latin typeface="Aptos"/>
              </a:rPr>
              <a:t>Can Generative AI-generated synthetic labelled text compensate for limited real training data in SMS spam classification?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37360"/>
            <a:ext cx="3886200" cy="182880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C6E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36992" y="20116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9A89"/>
                </a:solidFill>
                <a:latin typeface="Aptos"/>
              </a:rPr>
              <a:t>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395728"/>
            <a:ext cx="32461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233F"/>
                </a:solidFill>
                <a:latin typeface="Aptos"/>
              </a:rPr>
              <a:t>Adding synthetic data will improve predictive performance under limited real-data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862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86200"/>
            <a:ext cx="68580" cy="1508760"/>
          </a:xfrm>
          <a:prstGeom prst="rect">
            <a:avLst/>
          </a:prstGeom>
          <a:solidFill>
            <a:srgbClr val="4C7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4050791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Independent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453128"/>
            <a:ext cx="3044952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247"/>
                </a:solidFill>
                <a:latin typeface="Aptos"/>
              </a:rPr>
              <a:t>Synthetic-data amount: 0%, 25%, 50%, or 100% of the restricted real training-set size.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8862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3886200"/>
            <a:ext cx="68580" cy="1508760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050791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Measured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53128"/>
            <a:ext cx="3044952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247"/>
                </a:solidFill>
                <a:latin typeface="Aptos"/>
              </a:rPr>
              <a:t>Accuracy, Macro-F1, Matthews Correlation Coefficient (MCC), and training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388620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83296" y="3886200"/>
            <a:ext cx="68580" cy="1508760"/>
          </a:xfrm>
          <a:prstGeom prst="rect">
            <a:avLst/>
          </a:prstGeom>
          <a:solidFill>
            <a:srgbClr val="F0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4050791"/>
            <a:ext cx="304495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33F"/>
                </a:solidFill>
                <a:latin typeface="Aptos"/>
              </a:rPr>
              <a:t>Held constant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453128"/>
            <a:ext cx="3044952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247"/>
                </a:solidFill>
                <a:latin typeface="Aptos"/>
              </a:rPr>
              <a:t>Same real test set, same TF-IDF settings, and same Logistic Regression pipeline.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9A89"/>
                </a:solidFill>
                <a:latin typeface="Aptos"/>
              </a:rPr>
              <a:t>03  / 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SMS Spam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A binary text-classification dataset from the UCI Machine Learning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658368" cy="5029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5486400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755648"/>
            <a:ext cx="5029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938528"/>
            <a:ext cx="160020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33F"/>
                </a:solidFill>
                <a:latin typeface="Aptos"/>
              </a:rPr>
              <a:t>5,572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9339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087"/>
                </a:solidFill>
                <a:latin typeface="Aptos"/>
              </a:rPr>
              <a:t>total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898648"/>
            <a:ext cx="5029200" cy="9601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3090672"/>
            <a:ext cx="160020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3233F"/>
                </a:solidFill>
                <a:latin typeface="Aptos"/>
              </a:rPr>
              <a:t>4,457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1363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087"/>
                </a:solidFill>
                <a:latin typeface="Aptos"/>
              </a:rPr>
              <a:t>training split (80%)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041648"/>
            <a:ext cx="5029200" cy="96012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C6E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4233672"/>
            <a:ext cx="160020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3233F"/>
                </a:solidFill>
                <a:latin typeface="Aptos"/>
              </a:rPr>
              <a:t>1,115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2793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087"/>
                </a:solidFill>
                <a:latin typeface="Aptos"/>
              </a:rPr>
              <a:t>real test messages (20%)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30352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43247"/>
                </a:solidFill>
                <a:latin typeface="Aptos"/>
              </a:rPr>
              <a:t>After the split, only 20% of the training portion was retained: 891 real messages (771 ham, 120 spam).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925312"/>
            <a:ext cx="103327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17087"/>
                </a:solidFill>
                <a:latin typeface="Aptos"/>
              </a:rPr>
              <a:t>Source: UCI Machine Learning Repository — SMS Spam Collection.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9A89"/>
                </a:solidFill>
                <a:latin typeface="Aptos"/>
              </a:rPr>
              <a:t>04  /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From limited real data to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The same real test set is used in each condition to make the comparison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658368" cy="5029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3504" y="184708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" y="2048256"/>
            <a:ext cx="384048" cy="384048"/>
          </a:xfrm>
          <a:prstGeom prst="ellipse">
            <a:avLst/>
          </a:prstGeom>
          <a:solidFill>
            <a:srgbClr val="4C7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05282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2082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Original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14016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7087"/>
                </a:solidFill>
                <a:latin typeface="Aptos"/>
              </a:rPr>
              <a:t>5,572 real 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4708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2048256"/>
            <a:ext cx="384048" cy="384048"/>
          </a:xfrm>
          <a:prstGeom prst="ellipse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05282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3" y="202082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Train/test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2414016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7087"/>
                </a:solidFill>
                <a:latin typeface="Aptos"/>
              </a:rPr>
              <a:t>4,457 train • 1,115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847088"/>
            <a:ext cx="3246120" cy="123444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49055" y="2048256"/>
            <a:ext cx="384048" cy="384048"/>
          </a:xfrm>
          <a:prstGeom prst="ellipse">
            <a:avLst/>
          </a:prstGeom>
          <a:solidFill>
            <a:srgbClr val="F0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5" y="205282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02082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Restrict 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414016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7087"/>
                </a:solidFill>
                <a:latin typeface="Aptos"/>
              </a:rPr>
              <a:t>Keep 20% of train = 891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4041648"/>
            <a:ext cx="3246120" cy="123444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6384" y="4242816"/>
            <a:ext cx="384048" cy="384048"/>
          </a:xfrm>
          <a:prstGeom prst="ellipse">
            <a:avLst/>
          </a:prstGeom>
          <a:solidFill>
            <a:srgbClr val="4C7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424738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21538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Add synthetic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608576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7087"/>
                </a:solidFill>
                <a:latin typeface="Aptos"/>
              </a:rPr>
              <a:t>+0 / 223 / 446 / 891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04164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17720" y="4242816"/>
            <a:ext cx="384048" cy="384048"/>
          </a:xfrm>
          <a:prstGeom prst="ellipse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424738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3" y="421538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3" y="4608576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7087"/>
                </a:solidFill>
                <a:latin typeface="Aptos"/>
              </a:rPr>
              <a:t>Train one pipeline per condition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5" y="404164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49055" y="4242816"/>
            <a:ext cx="384048" cy="384048"/>
          </a:xfrm>
          <a:prstGeom prst="ellipse">
            <a:avLst/>
          </a:prstGeom>
          <a:solidFill>
            <a:srgbClr val="F0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49055" y="424738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19" y="421538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Evaluate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4608576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17087"/>
                </a:solidFill>
                <a:latin typeface="Aptos"/>
              </a:rPr>
              <a:t>Same 1,115 real test messages</a:t>
            </a:r>
          </a:p>
        </p:txBody>
      </p:sp>
      <p:sp>
        <p:nvSpPr>
          <p:cNvPr id="36" name="Chevron 35"/>
          <p:cNvSpPr/>
          <p:nvPr/>
        </p:nvSpPr>
        <p:spPr>
          <a:xfrm>
            <a:off x="3886200" y="2267712"/>
            <a:ext cx="347472" cy="320040"/>
          </a:xfrm>
          <a:prstGeom prst="chevron">
            <a:avLst/>
          </a:prstGeom>
          <a:solidFill>
            <a:srgbClr val="AA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hevron 36"/>
          <p:cNvSpPr/>
          <p:nvPr/>
        </p:nvSpPr>
        <p:spPr>
          <a:xfrm>
            <a:off x="7717536" y="2267712"/>
            <a:ext cx="347472" cy="320040"/>
          </a:xfrm>
          <a:prstGeom prst="chevron">
            <a:avLst/>
          </a:prstGeom>
          <a:solidFill>
            <a:srgbClr val="AA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580644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9A89"/>
                </a:solidFill>
                <a:latin typeface="Aptos"/>
              </a:rPr>
              <a:t>Fixed across all conditions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788152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233F"/>
                </a:solidFill>
                <a:latin typeface="Aptos"/>
              </a:rPr>
              <a:t>test set • vectorizer settings • classifier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9A89"/>
                </a:solidFill>
                <a:latin typeface="Aptos"/>
              </a:rPr>
              <a:t>05  / 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Four controlled training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Only the amount of synthetic training data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658368" cy="5029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83080"/>
          <a:ext cx="66751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05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Condition</a:t>
                      </a:r>
                    </a:p>
                  </a:txBody>
                  <a:tcPr marL="64008" marR="45720" marT="27432" marB="2286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Real</a:t>
                      </a:r>
                    </a:p>
                  </a:txBody>
                  <a:tcPr marL="64008" marR="45720" marT="27432" marB="2286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Synthetic</a:t>
                      </a:r>
                    </a:p>
                  </a:txBody>
                  <a:tcPr marL="64008" marR="45720" marT="27432" marB="2286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64008" marR="45720" marT="27432" marB="22860" anchor="ctr">
                    <a:solidFill>
                      <a:srgbClr val="13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5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Real only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891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891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5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Real + 25%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891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223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1,114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5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Real + 50%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891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446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1,337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5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43247"/>
                          </a:solidFill>
                          <a:latin typeface="Aptos"/>
                        </a:rPr>
                        <a:t>Real + 100%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43247"/>
                          </a:solidFill>
                          <a:latin typeface="Aptos"/>
                        </a:rPr>
                        <a:t>891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43247"/>
                          </a:solidFill>
                          <a:latin typeface="Aptos"/>
                        </a:rPr>
                        <a:t>891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43247"/>
                          </a:solidFill>
                          <a:latin typeface="Aptos"/>
                        </a:rPr>
                        <a:t>1,782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99248" y="1783080"/>
            <a:ext cx="3749039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73568" y="2029968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233F"/>
                </a:solidFill>
                <a:latin typeface="Aptos"/>
              </a:rPr>
              <a:t>Evaluation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587752"/>
            <a:ext cx="3154680" cy="16276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Accuracy — overall correctness</a:t>
            </a:r>
          </a:p>
          <a:p>
            <a:pPr>
              <a:spcAft>
                <a:spcPts val="10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Macro-F1 — balances class-wise F1</a:t>
            </a:r>
          </a:p>
          <a:p>
            <a:pPr>
              <a:spcAft>
                <a:spcPts val="10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MCC — correlation of predictions and labels</a:t>
            </a:r>
          </a:p>
          <a:p>
            <a:pPr>
              <a:spcAft>
                <a:spcPts val="1000"/>
              </a:spcAft>
              <a:defRPr sz="1200">
                <a:solidFill>
                  <a:srgbClr val="243247"/>
                </a:solidFill>
                <a:latin typeface="Aptos"/>
              </a:defRPr>
            </a:pPr>
            <a:r>
              <a:t>•  Training time — fit duration in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83480"/>
            <a:ext cx="10762488" cy="68580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C6E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5157216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9A89"/>
                </a:solidFill>
                <a:latin typeface="Aptos"/>
              </a:rPr>
              <a:t>Control: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38928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233F"/>
                </a:solidFill>
                <a:latin typeface="Aptos"/>
              </a:rPr>
              <a:t>all conditions are evaluated on the same 1,115 real test messages.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25312"/>
            <a:ext cx="10241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17087"/>
                </a:solidFill>
                <a:latin typeface="Aptos"/>
              </a:rPr>
              <a:t>Synthetic data are added to training only; the test set remains real and unchanged.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9A89"/>
                </a:solidFill>
                <a:latin typeface="Aptos"/>
              </a:rPr>
              <a:t>06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Predictive performance improves with more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Observed values from the experiment; scores are evaluated on the same real test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658368" cy="5029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50749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05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Condition</a:t>
                      </a:r>
                    </a:p>
                  </a:txBody>
                  <a:tcPr marL="64008" marR="45720" marT="27432" marB="2286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64008" marR="45720" marT="27432" marB="2286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Macro-F1</a:t>
                      </a:r>
                    </a:p>
                  </a:txBody>
                  <a:tcPr marL="64008" marR="45720" marT="27432" marB="2286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MCC</a:t>
                      </a:r>
                    </a:p>
                  </a:txBody>
                  <a:tcPr marL="64008" marR="45720" marT="27432" marB="22860" anchor="ctr">
                    <a:solidFill>
                      <a:srgbClr val="13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5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Real only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0.8744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0.5232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0.2297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5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+25% synthetic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0.8816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0.5704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0.3168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5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+50% synthetic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0.8888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0.6135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0.3856</a:t>
                      </a:r>
                    </a:p>
                  </a:txBody>
                  <a:tcPr marL="64008" marR="45720" marT="27432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5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43247"/>
                          </a:solidFill>
                          <a:latin typeface="Aptos"/>
                        </a:rPr>
                        <a:t>+100% synthetic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43247"/>
                          </a:solidFill>
                          <a:latin typeface="Aptos"/>
                        </a:rPr>
                        <a:t>0.8933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43247"/>
                          </a:solidFill>
                          <a:latin typeface="Aptos"/>
                        </a:rPr>
                        <a:t>0.6386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43247"/>
                          </a:solidFill>
                          <a:latin typeface="Aptos"/>
                        </a:rPr>
                        <a:t>0.4234</a:t>
                      </a:r>
                    </a:p>
                  </a:txBody>
                  <a:tcPr marL="64008" marR="45720" marT="27432" marB="22860" anchor="ctr"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performanc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72768"/>
            <a:ext cx="5623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4983480"/>
            <a:ext cx="3383280" cy="7315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7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5093208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C7DF0"/>
                </a:solidFill>
                <a:latin typeface="Aptos"/>
              </a:rPr>
              <a:t>+1.88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513892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233F"/>
                </a:solidFill>
                <a:latin typeface="Apto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4983480"/>
            <a:ext cx="3383280" cy="73152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C6E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509320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9A89"/>
                </a:solidFill>
                <a:latin typeface="Aptos"/>
              </a:rPr>
              <a:t>+11.54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138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233F"/>
                </a:solidFill>
                <a:latin typeface="Aptos"/>
              </a:rPr>
              <a:t>Macro-F1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983480"/>
            <a:ext cx="3657600" cy="731520"/>
          </a:xfrm>
          <a:prstGeom prst="roundRect">
            <a:avLst/>
          </a:prstGeom>
          <a:solidFill>
            <a:srgbClr val="FFF5E3"/>
          </a:solidFill>
          <a:ln w="12700">
            <a:solidFill>
              <a:srgbClr val="F4E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0144" y="5093208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B17A16"/>
                </a:solidFill>
                <a:latin typeface="Aptos"/>
              </a:rPr>
              <a:t>+0.1937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5138928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233F"/>
                </a:solidFill>
                <a:latin typeface="Aptos"/>
              </a:rPr>
              <a:t>MCC (absolute)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16168"/>
            <a:ext cx="1005840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17087"/>
                </a:solidFill>
                <a:latin typeface="Aptos"/>
              </a:rPr>
              <a:t>pp = percentage points; MCC difference is shown as an absolute score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9A89"/>
                </a:solidFill>
                <a:latin typeface="Aptos"/>
              </a:rPr>
              <a:t>07  / 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The baseline exposed a class-imbalance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High accuracy alone did not mean the baseline detected spam well.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658368" cy="5029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64792"/>
            <a:ext cx="5166360" cy="3675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233F"/>
                </a:solidFill>
                <a:latin typeface="Aptos"/>
              </a:rPr>
              <a:t>Real-only classification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578608"/>
            <a:ext cx="2121408" cy="71323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68833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17087"/>
                </a:solidFill>
                <a:latin typeface="Aptos"/>
              </a:rPr>
              <a:t>HAM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88336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1" i="0">
                <a:solidFill>
                  <a:srgbClr val="4C7DF0"/>
                </a:solidFill>
                <a:latin typeface="Aptos"/>
              </a:rPr>
              <a:t>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2578608"/>
            <a:ext cx="2121408" cy="713232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268833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17087"/>
                </a:solidFill>
                <a:latin typeface="Aptos"/>
              </a:rPr>
              <a:t>SPAM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88336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1" i="0">
                <a:solidFill>
                  <a:srgbClr val="E36D6D"/>
                </a:solidFill>
                <a:latin typeface="Aptos"/>
              </a:rPr>
              <a:t>0.06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38728"/>
            <a:ext cx="2121408" cy="71323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364845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17087"/>
                </a:solidFill>
                <a:latin typeface="Aptos"/>
              </a:rPr>
              <a:t>HAM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648456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1" i="0">
                <a:solidFill>
                  <a:srgbClr val="4C7DF0"/>
                </a:solidFill>
                <a:latin typeface="Aptos"/>
              </a:rPr>
              <a:t>0.93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4408" y="3538728"/>
            <a:ext cx="2121408" cy="713232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1568" y="3648456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17087"/>
                </a:solidFill>
                <a:latin typeface="Aptos"/>
              </a:rPr>
              <a:t>SPAM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48456"/>
            <a:ext cx="6217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1" i="0">
                <a:solidFill>
                  <a:srgbClr val="E36D6D"/>
                </a:solidFill>
                <a:latin typeface="Aptos"/>
              </a:rPr>
              <a:t>0.11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553712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43247"/>
                </a:solidFill>
                <a:latin typeface="Aptos"/>
              </a:rPr>
              <a:t>Interpretation: baseline predictions strongly favoured HAM and missed many SPAM messages.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965192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09A89"/>
                </a:solidFill>
                <a:latin typeface="Aptos"/>
              </a:rPr>
              <a:t>With augmentation, Macro-F1 and MCC improved.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764792"/>
            <a:ext cx="5394960" cy="3675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rain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938528"/>
            <a:ext cx="4892040" cy="2788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19088" y="4754880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43247"/>
                </a:solidFill>
                <a:latin typeface="Aptos"/>
              </a:rPr>
              <a:t>Training remained fast; the largest condition took 0.0622 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02352"/>
            <a:ext cx="4663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17087"/>
                </a:solidFill>
                <a:latin typeface="Aptos"/>
              </a:rPr>
              <a:t>Single-run timing can vary by execution environment.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9A89"/>
                </a:solidFill>
                <a:latin typeface="Aptos"/>
              </a:rPr>
              <a:t>08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217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3233F"/>
                </a:solidFill>
                <a:latin typeface="Aptos"/>
              </a:rPr>
              <a:t>What did we learn?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087"/>
                </a:solidFill>
                <a:latin typeface="Aptos"/>
              </a:rPr>
              <a:t>Within this SMS spam experiment, synthetic labelled examples improved the observed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658368" cy="50292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257800" cy="1828800"/>
          </a:xfrm>
          <a:prstGeom prst="roundRect">
            <a:avLst/>
          </a:prstGeom>
          <a:solidFill>
            <a:srgbClr val="13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DE9DC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526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Real + 100% synthetic achieved the best observed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9067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9D9EE"/>
                </a:solidFill>
                <a:latin typeface="Aptos"/>
              </a:rPr>
              <a:t>Accuracy 0.8933  •  Macro-F1 0.6386  •  MCC 0.4234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55648"/>
            <a:ext cx="248716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755648"/>
            <a:ext cx="68580" cy="1828800"/>
          </a:xfrm>
          <a:prstGeom prst="rect">
            <a:avLst/>
          </a:prstGeom>
          <a:solidFill>
            <a:srgbClr val="F0B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22576"/>
            <a:ext cx="2103120" cy="11704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43247"/>
                </a:solidFill>
                <a:latin typeface="Aptos"/>
              </a:defRPr>
            </a:pPr>
            <a:r>
              <a:t>•  One dataset and one classifier</a:t>
            </a:r>
          </a:p>
          <a:p>
            <a:pPr>
              <a:spcAft>
                <a:spcPts val="500"/>
              </a:spcAft>
              <a:defRPr sz="1050">
                <a:solidFill>
                  <a:srgbClr val="243247"/>
                </a:solidFill>
                <a:latin typeface="Aptos"/>
              </a:defRPr>
            </a:pPr>
            <a:r>
              <a:t>•  Synthetic quality may vary</a:t>
            </a:r>
          </a:p>
          <a:p>
            <a:pPr>
              <a:spcAft>
                <a:spcPts val="500"/>
              </a:spcAft>
              <a:defRPr sz="1050">
                <a:solidFill>
                  <a:srgbClr val="243247"/>
                </a:solidFill>
                <a:latin typeface="Aptos"/>
              </a:defRPr>
            </a:pPr>
            <a:r>
              <a:t>•  Runtime was measured once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55648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15400" y="1755648"/>
            <a:ext cx="68580" cy="1828800"/>
          </a:xfrm>
          <a:prstGeom prst="rect">
            <a:avLst/>
          </a:prstGeom>
          <a:solidFill>
            <a:srgbClr val="17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16568" y="1920240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33F"/>
                </a:solidFill>
                <a:latin typeface="Aptos"/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22576"/>
            <a:ext cx="2176272" cy="11704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43247"/>
                </a:solidFill>
                <a:latin typeface="Aptos"/>
              </a:defRPr>
            </a:pPr>
            <a:r>
              <a:t>•  Try more classifiers</a:t>
            </a:r>
          </a:p>
          <a:p>
            <a:pPr>
              <a:spcAft>
                <a:spcPts val="500"/>
              </a:spcAft>
              <a:defRPr sz="1050">
                <a:solidFill>
                  <a:srgbClr val="243247"/>
                </a:solidFill>
                <a:latin typeface="Aptos"/>
              </a:defRPr>
            </a:pPr>
            <a:r>
              <a:t>•  Use other datasets</a:t>
            </a:r>
          </a:p>
          <a:p>
            <a:pPr>
              <a:spcAft>
                <a:spcPts val="500"/>
              </a:spcAft>
              <a:defRPr sz="1050">
                <a:solidFill>
                  <a:srgbClr val="243247"/>
                </a:solidFill>
                <a:latin typeface="Aptos"/>
              </a:defRPr>
            </a:pPr>
            <a:r>
              <a:t>•  Measure data diversity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96512"/>
            <a:ext cx="201168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33F"/>
                </a:solidFill>
                <a:latin typeface="Aptos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43247"/>
                </a:solidFill>
                <a:latin typeface="Aptos"/>
              </a:rPr>
              <a:t>Macro-F1 rose by 11.54 percentage points and MCC rose from 0.2297 to 0.4234 compared with the real-only baseline.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502920"/>
          </a:xfrm>
          <a:prstGeom prst="roundRect">
            <a:avLst/>
          </a:prstGeom>
          <a:solidFill>
            <a:srgbClr val="E7F8F5"/>
          </a:solidFill>
          <a:ln w="12700">
            <a:solidFill>
              <a:srgbClr val="C6E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5413248"/>
            <a:ext cx="1019556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9A89"/>
                </a:solidFill>
                <a:latin typeface="Aptos"/>
              </a:rPr>
              <a:t>Conclusion: results support the hypothesis for this dataset and setup—not a guarantee for every text-classification task.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989320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17087"/>
                </a:solidFill>
                <a:latin typeface="Aptos"/>
              </a:rPr>
              <a:t>Dataset source: UCI Machine Learning Repository, SMS Spam Collection.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6574536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MODERN AI  •  AI26501  •  ASSIGNMENT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65392"/>
            <a:ext cx="93268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17087"/>
                </a:solidFill>
                <a:latin typeface="Aptos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960</Words>
  <Application>Microsoft Office PowerPoint</Application>
  <PresentationFormat>Widescreen</PresentationFormat>
  <Paragraphs>181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Generative AI Synthetic Data on Text Classification with Limited Training Data</dc:title>
  <dc:subject>Modern AI Assignment 9 - SMS Spam Detection</dc:subject>
  <dc:creator>M.Tech CSE AIML - Group 3</dc:creator>
  <cp:keywords>synthetic data, text classification, SMS spam, TF-IDF, Logistic Regression</cp:keywords>
  <dc:description>generated using python-pptx</dc:description>
  <cp:lastModifiedBy>Ayush Tiwari</cp:lastModifiedBy>
  <cp:revision>2</cp:revision>
  <dcterms:created xsi:type="dcterms:W3CDTF">2013-01-27T09:14:16Z</dcterms:created>
  <dcterms:modified xsi:type="dcterms:W3CDTF">2026-10-11T10:12:00Z</dcterms:modified>
  <cp:category/>
</cp:coreProperties>
</file>